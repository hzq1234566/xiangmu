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4.svg"/><Relationship Id="rId7" Type="http://schemas.openxmlformats.org/officeDocument/2006/relationships/image" Target="../media/image5.png"/><Relationship Id="rId6" Type="http://schemas.openxmlformats.org/officeDocument/2006/relationships/image" Target="../media/image3.svg"/><Relationship Id="rId5" Type="http://schemas.openxmlformats.org/officeDocument/2006/relationships/image" Target="../media/image4.png"/><Relationship Id="rId4" Type="http://schemas.openxmlformats.org/officeDocument/2006/relationships/image" Target="../media/image2.svg"/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.jpeg"/><Relationship Id="rId6" Type="http://schemas.openxmlformats.org/officeDocument/2006/relationships/image" Target="../media/image7.svg"/><Relationship Id="rId5" Type="http://schemas.openxmlformats.org/officeDocument/2006/relationships/image" Target="../media/image8.png"/><Relationship Id="rId4" Type="http://schemas.openxmlformats.org/officeDocument/2006/relationships/image" Target="../media/image6.svg"/><Relationship Id="rId3" Type="http://schemas.openxmlformats.org/officeDocument/2006/relationships/image" Target="../media/image7.png"/><Relationship Id="rId2" Type="http://schemas.openxmlformats.org/officeDocument/2006/relationships/image" Target="../media/image5.sv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1.svg"/><Relationship Id="rId7" Type="http://schemas.openxmlformats.org/officeDocument/2006/relationships/image" Target="../media/image13.png"/><Relationship Id="rId6" Type="http://schemas.openxmlformats.org/officeDocument/2006/relationships/image" Target="../media/image10.svg"/><Relationship Id="rId5" Type="http://schemas.openxmlformats.org/officeDocument/2006/relationships/image" Target="../media/image12.png"/><Relationship Id="rId4" Type="http://schemas.openxmlformats.org/officeDocument/2006/relationships/image" Target="../media/image9.svg"/><Relationship Id="rId3" Type="http://schemas.openxmlformats.org/officeDocument/2006/relationships/image" Target="../media/image11.png"/><Relationship Id="rId2" Type="http://schemas.openxmlformats.org/officeDocument/2006/relationships/image" Target="../media/image8.svg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14.svg"/><Relationship Id="rId13" Type="http://schemas.openxmlformats.org/officeDocument/2006/relationships/image" Target="../media/image16.png"/><Relationship Id="rId12" Type="http://schemas.openxmlformats.org/officeDocument/2006/relationships/image" Target="../media/image13.svg"/><Relationship Id="rId11" Type="http://schemas.openxmlformats.org/officeDocument/2006/relationships/image" Target="../media/image15.png"/><Relationship Id="rId10" Type="http://schemas.openxmlformats.org/officeDocument/2006/relationships/image" Target="../media/image12.sv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.svg"/><Relationship Id="rId6" Type="http://schemas.openxmlformats.org/officeDocument/2006/relationships/image" Target="../media/image11.png"/><Relationship Id="rId5" Type="http://schemas.openxmlformats.org/officeDocument/2006/relationships/image" Target="../media/image15.svg"/><Relationship Id="rId4" Type="http://schemas.openxmlformats.org/officeDocument/2006/relationships/image" Target="../media/image18.png"/><Relationship Id="rId3" Type="http://schemas.openxmlformats.org/officeDocument/2006/relationships/image" Target="../media/image14.svg"/><Relationship Id="rId2" Type="http://schemas.openxmlformats.org/officeDocument/2006/relationships/image" Target="../media/image16.png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8.svg"/><Relationship Id="rId6" Type="http://schemas.openxmlformats.org/officeDocument/2006/relationships/image" Target="../media/image22.png"/><Relationship Id="rId5" Type="http://schemas.openxmlformats.org/officeDocument/2006/relationships/image" Target="../media/image17.svg"/><Relationship Id="rId4" Type="http://schemas.openxmlformats.org/officeDocument/2006/relationships/image" Target="../media/image21.png"/><Relationship Id="rId3" Type="http://schemas.openxmlformats.org/officeDocument/2006/relationships/image" Target="../media/image16.sv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7.png"/><Relationship Id="rId7" Type="http://schemas.openxmlformats.org/officeDocument/2006/relationships/image" Target="../media/image26.png"/><Relationship Id="rId6" Type="http://schemas.openxmlformats.org/officeDocument/2006/relationships/image" Target="../media/image1.svg"/><Relationship Id="rId5" Type="http://schemas.openxmlformats.org/officeDocument/2006/relationships/image" Target="../media/image2.png"/><Relationship Id="rId4" Type="http://schemas.openxmlformats.org/officeDocument/2006/relationships/image" Target="../media/image19.svg"/><Relationship Id="rId3" Type="http://schemas.openxmlformats.org/officeDocument/2006/relationships/image" Target="../media/image25.png"/><Relationship Id="rId2" Type="http://schemas.openxmlformats.org/officeDocument/2006/relationships/image" Target="../media/image12.sv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svg"/><Relationship Id="rId8" Type="http://schemas.openxmlformats.org/officeDocument/2006/relationships/image" Target="../media/image16.png"/><Relationship Id="rId7" Type="http://schemas.openxmlformats.org/officeDocument/2006/relationships/image" Target="../media/image22.svg"/><Relationship Id="rId6" Type="http://schemas.openxmlformats.org/officeDocument/2006/relationships/image" Target="../media/image31.png"/><Relationship Id="rId5" Type="http://schemas.openxmlformats.org/officeDocument/2006/relationships/image" Target="../media/image21.svg"/><Relationship Id="rId4" Type="http://schemas.openxmlformats.org/officeDocument/2006/relationships/image" Target="../media/image30.png"/><Relationship Id="rId3" Type="http://schemas.openxmlformats.org/officeDocument/2006/relationships/image" Target="../media/image20.svg"/><Relationship Id="rId2" Type="http://schemas.openxmlformats.org/officeDocument/2006/relationships/image" Target="../media/image29.png"/><Relationship Id="rId11" Type="http://schemas.openxmlformats.org/officeDocument/2006/relationships/notesSlide" Target="../notesSlides/notesSlide9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8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image" Target="../media/image22.svg"/><Relationship Id="rId7" Type="http://schemas.openxmlformats.org/officeDocument/2006/relationships/image" Target="../media/image31.png"/><Relationship Id="rId6" Type="http://schemas.openxmlformats.org/officeDocument/2006/relationships/image" Target="../media/image25.svg"/><Relationship Id="rId5" Type="http://schemas.openxmlformats.org/officeDocument/2006/relationships/image" Target="../media/image34.png"/><Relationship Id="rId4" Type="http://schemas.openxmlformats.org/officeDocument/2006/relationships/image" Target="../media/image24.svg"/><Relationship Id="rId3" Type="http://schemas.openxmlformats.org/officeDocument/2006/relationships/image" Target="../media/image33.png"/><Relationship Id="rId2" Type="http://schemas.openxmlformats.org/officeDocument/2006/relationships/image" Target="../media/image23.svg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.svg"/><Relationship Id="rId1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svg"/><Relationship Id="rId8" Type="http://schemas.openxmlformats.org/officeDocument/2006/relationships/image" Target="../media/image37.png"/><Relationship Id="rId7" Type="http://schemas.openxmlformats.org/officeDocument/2006/relationships/image" Target="../media/image36.jpeg"/><Relationship Id="rId6" Type="http://schemas.openxmlformats.org/officeDocument/2006/relationships/image" Target="../media/image18.svg"/><Relationship Id="rId5" Type="http://schemas.openxmlformats.org/officeDocument/2006/relationships/image" Target="../media/image22.png"/><Relationship Id="rId4" Type="http://schemas.openxmlformats.org/officeDocument/2006/relationships/image" Target="../media/image26.svg"/><Relationship Id="rId3" Type="http://schemas.openxmlformats.org/officeDocument/2006/relationships/image" Target="../media/image35.png"/><Relationship Id="rId2" Type="http://schemas.openxmlformats.org/officeDocument/2006/relationships/image" Target="../media/image16.svg"/><Relationship Id="rId16" Type="http://schemas.openxmlformats.org/officeDocument/2006/relationships/notesSlide" Target="../notesSlides/notesSlide11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40.jpeg"/><Relationship Id="rId13" Type="http://schemas.openxmlformats.org/officeDocument/2006/relationships/image" Target="../media/image29.svg"/><Relationship Id="rId12" Type="http://schemas.openxmlformats.org/officeDocument/2006/relationships/image" Target="../media/image39.png"/><Relationship Id="rId11" Type="http://schemas.openxmlformats.org/officeDocument/2006/relationships/image" Target="../media/image28.svg"/><Relationship Id="rId10" Type="http://schemas.openxmlformats.org/officeDocument/2006/relationships/image" Target="../media/image38.png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3.svg"/><Relationship Id="rId7" Type="http://schemas.openxmlformats.org/officeDocument/2006/relationships/image" Target="../media/image44.png"/><Relationship Id="rId6" Type="http://schemas.openxmlformats.org/officeDocument/2006/relationships/image" Target="../media/image32.svg"/><Relationship Id="rId5" Type="http://schemas.openxmlformats.org/officeDocument/2006/relationships/image" Target="../media/image43.png"/><Relationship Id="rId4" Type="http://schemas.openxmlformats.org/officeDocument/2006/relationships/image" Target="../media/image31.svg"/><Relationship Id="rId3" Type="http://schemas.openxmlformats.org/officeDocument/2006/relationships/image" Target="../media/image42.png"/><Relationship Id="rId2" Type="http://schemas.openxmlformats.org/officeDocument/2006/relationships/image" Target="../media/image30.svg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5.png"/><Relationship Id="rId4" Type="http://schemas.openxmlformats.org/officeDocument/2006/relationships/image" Target="../media/image13.svg"/><Relationship Id="rId3" Type="http://schemas.openxmlformats.org/officeDocument/2006/relationships/image" Target="../media/image15.png"/><Relationship Id="rId2" Type="http://schemas.openxmlformats.org/officeDocument/2006/relationships/image" Target="../media/image34.svg"/><Relationship Id="rId1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 t="-68518" b="-68518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美食探店分享社区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937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课程设计答辩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89000" y="5207000"/>
            <a:ext cx="10414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5359400"/>
            <a:ext cx="330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黄志强 吕泓毅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37502">
            <a:off x="4044950" y="5740458"/>
            <a:ext cx="698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4445000" y="5359400"/>
            <a:ext cx="330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指导老师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曾鹏程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5337502">
            <a:off x="7435850" y="5740458"/>
            <a:ext cx="698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0" y="5359400"/>
            <a:ext cx="330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2026年7月10</a:t>
            </a:r>
            <a:r>
              <a:rPr lang="zh-CN" alt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</a:t>
            </a:r>
            <a:endParaRPr lang="zh-CN" altLang="en-US" sz="16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FF6A00">
              <a:alpha val="4000"/>
            </a:srgbClr>
          </a:solidFill>
          <a:ln cap="flat" cmpd="sng">
            <a:solidFill>
              <a:srgbClr val="E65F00">
                <a:alpha val="4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FF6A00">
              <a:alpha val="4000"/>
            </a:srgbClr>
          </a:solidFill>
          <a:ln cap="flat" cmpd="sng">
            <a:solidFill>
              <a:srgbClr val="E65F00">
                <a:alpha val="4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cap="flat" cmpd="sng">
            <a:solidFill>
              <a:srgbClr val="E65F00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t>行业痛点与项目价值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76200" cy="1841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0955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16500" y="21336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2032000" y="2159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行业痛点与项目价值</a:t>
            </a:r>
            <a:endParaRPr lang="en-US" sz="18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2921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洞察发展新浪潮，</a:t>
            </a:r>
            <a:r>
              <a:rPr lang="zh-CN" alt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观察</a:t>
            </a: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行业现存的核心痛点与用户潜在需求，明确项目研发的市场价值与落地契机。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286500" y="1905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cap="flat" cmpd="sng">
            <a:solidFill>
              <a:srgbClr val="E65F00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286500" y="1905000"/>
            <a:ext cx="76200" cy="1841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540500" y="20955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41000" y="21336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556500" y="2159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核心功能全景展示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40500" y="29210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全面解析用户端与管理端的功能架构，通过场景化演示呈现产品的核心价值，展现功能设计的实用性与交互体验的便捷性。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cap="flat" cmpd="sng">
            <a:solidFill>
              <a:srgbClr val="E65F00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4191000"/>
            <a:ext cx="76200" cy="1841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43815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6500" y="44196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2032000" y="4445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技术架构与实现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016000" y="51435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拆解云原生架构设计逻辑，解析系统技术实现，阐述核心算法与技术选型背后的设计考量。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86500" y="4191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cap="flat" cmpd="sng">
            <a:solidFill>
              <a:srgbClr val="E65F00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6286500" y="4191000"/>
            <a:ext cx="76200" cy="1841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540500" y="43815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41000" y="4419600"/>
            <a:ext cx="355600" cy="3556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556500" y="4445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总结回顾与未来展望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540500" y="5143500"/>
            <a:ext cx="463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总结项目研发的技术难点攻克经验，复盘项目成果与不足，并对产品的迭代规划进行未来展望。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行业痛点与项目价值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334000" cy="1270000"/>
          </a:xfrm>
          <a:prstGeom prst="roundRect">
            <a:avLst>
              <a:gd name="adj" fmla="val 0"/>
            </a:avLst>
          </a:prstGeom>
          <a:solidFill>
            <a:srgbClr val="FF6A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50800" cy="762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68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19685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信息过载与信任缺失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23876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主流平台充斥商业推广与营销广告，真实用户评价被海量信息淹没，用户难以分辨内容真伪，导致消费决策成本居高不下。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238500"/>
            <a:ext cx="5334000" cy="1270000"/>
          </a:xfrm>
          <a:prstGeom prst="roundRect">
            <a:avLst>
              <a:gd name="adj" fmla="val 0"/>
            </a:avLst>
          </a:prstGeom>
          <a:solidFill>
            <a:srgbClr val="FF6A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492500"/>
            <a:ext cx="50800" cy="762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290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4290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缺乏深度内容与情感连接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38481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标准化的商户信息千篇一律，无法传递美食背后的人文故事、独特氛围与烟火气息，难以与追求体验感的用户建立深层情感共鸣。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699000"/>
            <a:ext cx="5334000" cy="1270000"/>
          </a:xfrm>
          <a:prstGeom prst="roundRect">
            <a:avLst>
              <a:gd name="adj" fmla="val 0"/>
            </a:avLst>
          </a:prstGeom>
          <a:solidFill>
            <a:srgbClr val="FF6A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4953000"/>
            <a:ext cx="50800" cy="7620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8895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48895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优质UGC内容分散无聚合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524000" y="5308600"/>
            <a:ext cx="431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用户真实的探店体验与私藏美味散落在各平台角落，缺乏垂直、专业的美食内容聚合地，导致优质的小众美食难以被发现和沉淀。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477000" y="1778000"/>
            <a:ext cx="3302000" cy="3302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21" name="AutoShape 21"/>
          <p:cNvSpPr/>
          <p:nvPr/>
        </p:nvSpPr>
        <p:spPr>
          <a:xfrm>
            <a:off x="6477000" y="5207000"/>
            <a:ext cx="4953000" cy="12700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12700" cap="flat" cmpd="sng">
            <a:solidFill>
              <a:srgbClr val="FF6A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667500" y="5359400"/>
            <a:ext cx="469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核心价值：真实 · 活跃 · 本地化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打造用户探索城市味道的「首选指南」与「精神家园」，聚合真实用户的烟火气分享，构建有温度的美食内容生态，让每一次寻味都充满归属感。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FF6A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FF6A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核心功能总览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我们的应用围绕用户“探索-分享-连接”的核心旅程设计，分为用户端和管理端两大模块，全方位覆盖内容消费、创作互动与平台运营管理的核心需求，打造闭环生态体验。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540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w="12700" cap="flat" cmpd="sng">
            <a:solidFill>
              <a:srgbClr val="FF6A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768600"/>
            <a:ext cx="4762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用户端 · 探索与连接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365500"/>
            <a:ext cx="2413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400" y="35179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5179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内容发布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168400" y="3911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支持图文、短视频探店笔记，轻松记录美食与生活的精彩瞬间。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492500" y="3365500"/>
            <a:ext cx="2413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44900" y="35179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000500" y="35179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浏览互动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44900" y="39116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智能推荐个性化Feed流，点赞评论，发现同城有趣的灵魂与内容。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4699000"/>
            <a:ext cx="2413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400" y="48514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48514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地图探店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168400" y="52451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基于LBS的可视化周边探索，直观发现身边的宝藏美食与打卡点。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492500" y="4699000"/>
            <a:ext cx="2413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4900" y="48514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4000500" y="4851400"/>
            <a:ext cx="1905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个人中心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3644900" y="5245100"/>
            <a:ext cx="215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一站式管理个人资料、发布作品与收藏夹，打造专属个性主页。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159500" y="2540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w="12700" cap="flat" cmpd="sng">
            <a:solidFill>
              <a:srgbClr val="FF6A0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413500" y="2768600"/>
            <a:ext cx="4762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管理端 · 运营与保障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13500" y="3365500"/>
            <a:ext cx="16256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65900" y="35560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565900" y="40640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用户管理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565900" y="4508500"/>
            <a:ext cx="1422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全生命周期账户治理，建立完善的信用评估与权限管控体系，保障平台用户权益。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102600" y="3365500"/>
            <a:ext cx="16256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55000" y="3556000"/>
            <a:ext cx="406400" cy="4064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8255000" y="40640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内容审核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255000" y="4508500"/>
            <a:ext cx="1422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AI智能初筛结合人工复核，高效识别违规风险，维护社区清朗生态。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9791700" y="3365500"/>
            <a:ext cx="16256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944100" y="3556000"/>
            <a:ext cx="406400" cy="4064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9944100" y="4064000"/>
            <a:ext cx="1397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数据看板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9944100" y="4508500"/>
            <a:ext cx="1422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E6E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实时监控DAU、留存率等核心指标，多维度数据洞察赋能运营决策。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FF6A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FF6A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用户端功能：首页与发现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5562" b="5562"/>
          <a:stretch>
            <a:fillRect/>
          </a:stretch>
        </p:blipFill>
        <p:spPr>
          <a:xfrm>
            <a:off x="762000" y="1778000"/>
            <a:ext cx="2413000" cy="4445000"/>
          </a:xfrm>
          <a:prstGeom prst="roundRect">
            <a:avLst>
              <a:gd name="adj" fmla="val 631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3683000" y="1778000"/>
            <a:ext cx="7747000" cy="1333500"/>
          </a:xfrm>
          <a:prstGeom prst="roundRect">
            <a:avLst>
              <a:gd name="adj" fmla="val 0"/>
            </a:avLst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7000" y="20066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508500" y="1981200"/>
            <a:ext cx="673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智能推荐 Feed 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08500" y="2438400"/>
            <a:ext cx="666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依托智能算法，结合用户地理位置、浏览历史与口味偏好，实现“千人千面”的个性化内容分发，精准推送符合用户兴趣的美食探店与推荐内容，让首页成为专属的美食指南。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83000" y="3365500"/>
            <a:ext cx="7747000" cy="1333500"/>
          </a:xfrm>
          <a:prstGeom prst="roundRect">
            <a:avLst>
              <a:gd name="adj" fmla="val 0"/>
            </a:avLst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7000" y="35941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508500" y="3568700"/>
            <a:ext cx="673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多维度内容发现体系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508500" y="4025900"/>
            <a:ext cx="666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构建「热门、最新、附近」等多元频道矩阵，满足不同场景下的浏览需求；支持菜品、店名、商圈等关键词精准搜索，搭配智能筛选功能，帮助用户快速定位心仪美食。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3683000" y="4953000"/>
            <a:ext cx="7747000" cy="1333500"/>
          </a:xfrm>
          <a:prstGeom prst="roundRect">
            <a:avLst>
              <a:gd name="adj" fmla="val 0"/>
            </a:avLst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37000" y="51816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508500" y="5156200"/>
            <a:ext cx="673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沉浸式社区互动体验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08500" y="5613400"/>
            <a:ext cx="6667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打造点赞、评论、收藏、打卡等丰富的互动场景，强化用户的参与感与归属感。通过真实的社区互动，让美食分享更具温度，沉淀出活跃、真实的社区氛围，提升用户粘性。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用户端功能：地图探店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22" b="22"/>
          <a:stretch>
            <a:fillRect/>
          </a:stretch>
        </p:blipFill>
        <p:spPr>
          <a:xfrm>
            <a:off x="762000" y="2032000"/>
            <a:ext cx="1943100" cy="4318000"/>
          </a:xfrm>
          <a:prstGeom prst="roundRect">
            <a:avLst>
              <a:gd name="adj" fmla="val 10457"/>
            </a:avLst>
          </a:prstGeom>
          <a:noFill/>
          <a:ln w="25400" cap="flat" cmpd="sng">
            <a:solidFill>
              <a:srgbClr val="FF6A00">
                <a:alpha val="15000"/>
              </a:srgbClr>
            </a:solidFill>
            <a:prstDash val="solid"/>
            <a:round/>
          </a:ln>
          <a:effectLst>
            <a:outerShdw blurRad="203200" dist="101600" dir="2700000" algn="tl" rotWithShape="0">
              <a:srgbClr val="FF6A00">
                <a:alpha val="10000"/>
              </a:srgbClr>
            </a:outerShdw>
          </a:effectLst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2000" y="2095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3937000" y="20955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LBS 周边实时推荐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937000" y="2603500"/>
            <a:ext cx="749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基于用户实时定位，在地图界面直观呈现周边被分享过的美食店铺。以可视化方式捕捉身边的美味线索，让用户快速发现附近的热门餐厅与小众宝藏店，真正做到“身在其中，尽览美味”。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5371">
            <a:off x="3302005" y="3613150"/>
            <a:ext cx="812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02000" y="3810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937000" y="38100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地图模式沉浸式浏览探店笔记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937000" y="4318000"/>
            <a:ext cx="749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点击地图上的店铺图标，即可一键展开所有用户发布的真实探店笔记、实拍图片与详细评价。通过真实的体验分享，帮助用户快速判断店铺口味、环境与性价比，让决策更高效、更放心。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5371">
            <a:off x="3302005" y="5200650"/>
            <a:ext cx="812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2000" y="5397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3937000" y="53975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智能路线规划与无缝导航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937000" y="5842000"/>
            <a:ext cx="749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深度集成地图导航API，用户选中心仪店铺即可一键生成最优出行路线，支持驾车、步行等多种方式。从线上发现到线下抵达，实现探索与行动的无缝衔接，即刻奔赴美食之约。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95000" y="-635000"/>
            <a:ext cx="2540000" cy="2540000"/>
          </a:xfrm>
          <a:prstGeom prst="ellipse">
            <a:avLst/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715000"/>
            <a:ext cx="1905000" cy="1905000"/>
          </a:xfrm>
          <a:prstGeom prst="ellipse">
            <a:avLst/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用户端功能：发布与个人中心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00" cy="19685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w="12700" cap="flat" cmpd="sng">
            <a:solidFill>
              <a:srgbClr val="FF6A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968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内容发布：多元创作与信息沉淀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765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支持图文、短视频等多形式创作，内置丰富的编辑工具，让内容更具表现力。通过关联商户、评分、标签等结构化信息，不仅提升了内容的参考价值，也为平台的精准检索和智能推荐提供了数据支撑。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191000"/>
            <a:ext cx="5080000" cy="19685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w="12700" cap="flat" cmpd="sng">
            <a:solidFill>
              <a:srgbClr val="FF6A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952500" y="43815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个人中心：专属名片与社交连接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8895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个人主页聚合展示用户发布的笔记、收藏与互动动态，打造独一无二的用户名片。同时支持便捷的社交关系管理，清晰展示关注与粉丝列表，构建紧密的美食爱好者社交圈层，增强用户粘性与归属感。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"/>
          <a:srcRect t="11258" b="11258"/>
          <a:stretch>
            <a:fillRect/>
          </a:stretch>
        </p:blipFill>
        <p:spPr>
          <a:xfrm>
            <a:off x="6223000" y="1905000"/>
            <a:ext cx="2476500" cy="3937000"/>
          </a:xfrm>
          <a:prstGeom prst="roundRect">
            <a:avLst>
              <a:gd name="adj" fmla="val 6153"/>
            </a:avLst>
          </a:prstGeom>
          <a:noFill/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12" name="AutoShape 12"/>
          <p:cNvSpPr/>
          <p:nvPr/>
        </p:nvSpPr>
        <p:spPr>
          <a:xfrm>
            <a:off x="6223000" y="59690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发布界面：引导式编辑，轻松上手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rcRect t="10588" b="10588"/>
          <a:stretch>
            <a:fillRect/>
          </a:stretch>
        </p:blipFill>
        <p:spPr>
          <a:xfrm>
            <a:off x="8953500" y="1905000"/>
            <a:ext cx="2476500" cy="3937000"/>
          </a:xfrm>
          <a:prstGeom prst="roundRect">
            <a:avLst>
              <a:gd name="adj" fmla="val 6153"/>
            </a:avLst>
          </a:prstGeom>
          <a:noFill/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14" name="AutoShape 14"/>
          <p:cNvSpPr/>
          <p:nvPr/>
        </p:nvSpPr>
        <p:spPr>
          <a:xfrm>
            <a:off x="8953500" y="5969000"/>
            <a:ext cx="2476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个人主页：聚合展示，一目了然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2540000" cy="2540000"/>
          </a:xfrm>
          <a:prstGeom prst="ellipse">
            <a:avLst/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管理端功能：保障社区健康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3429000" cy="381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905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71600" y="1879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用户全生命周期管理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2413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高效处理账户信息与投诉反馈，建立多维度信用等级体系，正向激励优质创作者，从源头维护社区的健康生态与良好秩序。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651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651000"/>
            <a:ext cx="3429000" cy="381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1905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91100" y="1879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AI+人工双重审核保障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572000" y="2413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利用AI模型快速识别违规内容，降低审核成本；对疑似内容进行人工复核，层层把关，确保社区内容安全、合规、积极向上。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001000" y="1651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8001000" y="1651000"/>
            <a:ext cx="3429000" cy="381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1905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10600" y="18796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可视化运营决策看板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91500" y="2413000"/>
            <a:ext cx="304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实时展示用户增长、内容热度、互动数据等核心指标，以图表化形式直观呈现，为运营策略调整和活动策划提供精准的数据支撑。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/>
          <a:srcRect t="1405" b="1405"/>
          <a:stretch>
            <a:fillRect/>
          </a:stretch>
        </p:blipFill>
        <p:spPr>
          <a:xfrm>
            <a:off x="762000" y="3937000"/>
            <a:ext cx="5207000" cy="2413000"/>
          </a:xfrm>
          <a:prstGeom prst="roundRect">
            <a:avLst>
              <a:gd name="adj" fmla="val 631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8"/>
          <a:srcRect t="1387" b="1387"/>
          <a:stretch>
            <a:fillRect/>
          </a:stretch>
        </p:blipFill>
        <p:spPr>
          <a:xfrm>
            <a:off x="6223000" y="3937000"/>
            <a:ext cx="5207000" cy="2413000"/>
          </a:xfrm>
          <a:prstGeom prst="roundRect">
            <a:avLst>
              <a:gd name="adj" fmla="val 631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技术架构：现代化云原生架构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l="164" r="164"/>
          <a:stretch>
            <a:fillRect/>
          </a:stretch>
        </p:blipFill>
        <p:spPr>
          <a:xfrm>
            <a:off x="762000" y="1778000"/>
            <a:ext cx="3556000" cy="3937000"/>
          </a:xfrm>
          <a:prstGeom prst="roundRect">
            <a:avLst>
              <a:gd name="adj" fmla="val 428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4826000" y="1778000"/>
            <a:ext cx="3111500" cy="1841500"/>
          </a:xfrm>
          <a:prstGeom prst="roundRect">
            <a:avLst>
              <a:gd name="adj" fmla="val 0"/>
            </a:avLst>
          </a:prstGeom>
          <a:solidFill>
            <a:srgbClr val="FF6A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4826000" y="1778000"/>
            <a:ext cx="50800" cy="1841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54600" y="1968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5461000" y="19431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统一接入层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054600" y="2413000"/>
            <a:ext cx="2730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集成高性能API网关，配置JWT安全鉴权与智能限流策略，构建系统的第一道防线，确保请求分发的高效与安全。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778000"/>
            <a:ext cx="3111500" cy="1841500"/>
          </a:xfrm>
          <a:prstGeom prst="roundRect">
            <a:avLst>
              <a:gd name="adj" fmla="val 0"/>
            </a:avLst>
          </a:prstGeom>
          <a:solidFill>
            <a:srgbClr val="FF6A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8128000" y="1778000"/>
            <a:ext cx="50800" cy="1841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56600" y="1968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8763000" y="19431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组件化应用层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56600" y="2413000"/>
            <a:ext cx="2730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基于Android Jetpack进行组件化开发，实现业务模块的解耦与复用，显著提升开发效率与后期的维护扩展性。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826000" y="3873500"/>
            <a:ext cx="3111500" cy="1841500"/>
          </a:xfrm>
          <a:prstGeom prst="roundRect">
            <a:avLst>
              <a:gd name="adj" fmla="val 0"/>
            </a:avLst>
          </a:prstGeom>
          <a:solidFill>
            <a:srgbClr val="FF6A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826000" y="3873500"/>
            <a:ext cx="50800" cy="1841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54600" y="4064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461000" y="40386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BaaS 服务层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5054600" y="4508500"/>
            <a:ext cx="2730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处理业务逻辑，配合数据库与存储，实现Serverless架构，降低运维成本。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28000" y="3873500"/>
            <a:ext cx="3111500" cy="1841500"/>
          </a:xfrm>
          <a:prstGeom prst="roundRect">
            <a:avLst>
              <a:gd name="adj" fmla="val 0"/>
            </a:avLst>
          </a:prstGeom>
          <a:solidFill>
            <a:srgbClr val="FF6A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128000" y="3873500"/>
            <a:ext cx="50800" cy="18415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56600" y="4064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763000" y="40386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多维数据层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356600" y="4508500"/>
            <a:ext cx="2730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融合PGC本地生活API数据与UGC用户原创内容，构建丰富多元的数据生态，为业务提供鲜活、实时的内容支撑。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969000"/>
            <a:ext cx="10668000" cy="127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62000" y="6096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核心价值：通过分层解耦与Serverless技术的深度应用，我们实现了从开发、运维到扩展的全链路降本增效，确保系统的高可用性与业务的敏捷迭代。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3175000" cy="3175000"/>
          </a:xfrm>
          <a:prstGeom prst="ellipse">
            <a:avLst/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关键技术：双数据源与云服务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数据源架构：融合专业与个性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26416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5400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PGC 标准化基础数据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对接第三方权威API，实时同步商户地址、营业时间等核心信息，确保平台基础数据的全面覆盖与高时效性。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3683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9116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38100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UGC 真实体验内容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聚合用户发布的真实评价、探店笔记与实拍图，沉淀独特的社区情感价值，构建有温度的商户口碑体系。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9530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51816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5080000"/>
            <a:ext cx="4381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ID关联深度融合画像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以唯一商户ID为纽带串联两类数据，形成“客观信息+主观体验”的立体商户画像，为用户决策提供多维支撑。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1778000"/>
            <a:ext cx="5207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服务驱动：高效运维与敏捷开发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2413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12700" cap="flat" cmpd="sng">
            <a:solidFill>
              <a:srgbClr val="FF6A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2667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21500" y="2565400"/>
            <a:ext cx="438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Serverless 弹性免运维架构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无需关注服务器配置与维护，系统根据访问量自动弹性伸缩资源，有效避免资源闲置浪费，大幅降低运维成本。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37465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FF6A00">
              <a:alpha val="8000"/>
            </a:srgbClr>
          </a:solidFill>
          <a:ln w="12700" cap="flat" cmpd="sng">
            <a:solidFill>
              <a:srgbClr val="FF6A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13500" y="40005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3898900"/>
            <a:ext cx="4381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一体化开发体系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数据库、对象存储、云函数与鉴权服务无缝集成，实现前端到后端的一站式开发部署，提升开发效率50%以上。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795000" y="-1016000"/>
            <a:ext cx="2540000" cy="2540000"/>
          </a:xfrm>
          <a:prstGeom prst="ellipse">
            <a:avLst/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715000"/>
            <a:ext cx="1905000" cy="1905000"/>
          </a:xfrm>
          <a:prstGeom prst="ellipse">
            <a:avLst/>
          </a:prstGeom>
          <a:solidFill>
            <a:srgbClr val="FF6A0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关键技术：地图与导航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地图服务集成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035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构建LBS核心能力，赋能本地生活服务场景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291">
            <a:off x="1016009" y="3041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A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32385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213100"/>
            <a:ext cx="438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精准周边搜索：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基于高德API实现餐饮、娱乐等POI智能检索，结合经纬度实时定位，快速匹配附近优质商户。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937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3911600"/>
            <a:ext cx="438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UGC地图可视化：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将用户真实探店内容以自定义Marker形式呈现在地图上，直观展示内容与地理位置的关联。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635500"/>
            <a:ext cx="254000" cy="254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4610100"/>
            <a:ext cx="438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多模态路线规划：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支持驾车、步行、公交三种主流出行方式，实时计算最优路径，为用户提供精准的到达指引。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16000" y="5397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1905000" y="5524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权威地图数据支持，稳定可靠的LBS技术底座，保障服务高可用性。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1778000"/>
            <a:ext cx="5207000" cy="4318000"/>
          </a:xfrm>
          <a:prstGeom prst="roundRect">
            <a:avLst>
              <a:gd name="adj" fmla="val 0"/>
            </a:avLst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Navigation组件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2603500"/>
            <a:ext cx="469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9999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Android Jetpack 架构标准，重构应用内交互体验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291">
            <a:off x="6477009" y="30416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A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2385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858000" y="3213100"/>
            <a:ext cx="438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Single-Activity 架构：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摒弃传统多Activity嵌套模式，统一管理应用生命周期，有效降低内存泄漏风险，提升应用稳定性。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39370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858000" y="3911600"/>
            <a:ext cx="438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可视化导航图管理：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通过XML集中配置页面跳转关系，逻辑清晰直观，极大降低复杂页面流转的维护与调试成本。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463550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6858000" y="4610100"/>
            <a:ext cx="4381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自动回退栈管理：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系统自动维护页面跳转历史栈，确保物理返回键与应用内返回逻辑高度一致，符合用户直觉。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4"/>
          <a:srcRect l="1236" r="1236"/>
          <a:stretch>
            <a:fillRect/>
          </a:stretch>
        </p:blipFill>
        <p:spPr>
          <a:xfrm>
            <a:off x="6477000" y="5397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8" name="AutoShape 28"/>
          <p:cNvSpPr/>
          <p:nvPr/>
        </p:nvSpPr>
        <p:spPr>
          <a:xfrm>
            <a:off x="7366000" y="55245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888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遵循Google官方架构指导，利用组件化优势提升开发效率与代码质量。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技术亮点总结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cap="flat" cmpd="sng">
            <a:solidFill>
              <a:srgbClr val="E65F00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95500"/>
            <a:ext cx="711200" cy="711200"/>
          </a:xfrm>
          <a:prstGeom prst="ellipse">
            <a:avLst/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400" y="22479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968500" y="2032000"/>
            <a:ext cx="3746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UGC+PGC 双轮驱动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创新性融合标准化商户数据与个性化用户体验，打破信息孤岛，为用户决策提供更丰富、真实可信的消费参考，构筑内容生态的核心竞争力。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7780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cap="flat" cmpd="sng">
            <a:solidFill>
              <a:srgbClr val="E65F00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77000" y="2095500"/>
            <a:ext cx="711200" cy="711200"/>
          </a:xfrm>
          <a:prstGeom prst="ellipse">
            <a:avLst/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9400" y="22479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429500" y="2032000"/>
            <a:ext cx="3746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LBS 赋能社区化运营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以地图为载体打通线上线下场景，精准连接用户与周边美食资源，打造高粘性、强互动的“附近”美食社区，强化用户的地域归属感与参与感。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cap="flat" cmpd="sng">
            <a:solidFill>
              <a:srgbClr val="E65F00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016000" y="4445000"/>
            <a:ext cx="711200" cy="711200"/>
          </a:xfrm>
          <a:prstGeom prst="ellipse">
            <a:avLst/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400" y="45974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968500" y="4381500"/>
            <a:ext cx="3746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/ AI 智能驱动内容治理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引入先进AI审核机制与自动化风控模型，全天候识别违规内容，在筑牢社区内容安全防线的同时，大幅提升审核效率，降低人工运营成本。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223000" y="4127500"/>
            <a:ext cx="5207000" cy="20955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cap="flat" cmpd="sng">
            <a:solidFill>
              <a:srgbClr val="E65F00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477000" y="4445000"/>
            <a:ext cx="711200" cy="711200"/>
          </a:xfrm>
          <a:prstGeom prst="ellipse">
            <a:avLst/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9400" y="45974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429500" y="4381500"/>
            <a:ext cx="37465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/ 云原生架构高效支撑</a:t>
            </a:r>
            <a:endParaRPr lang="en-US" sz="1100"/>
          </a:p>
          <a:p>
            <a:pPr marL="0" indent="0" algn="l">
              <a:lnSpc>
                <a:spcPct val="117000"/>
              </a:lnSpc>
              <a:spcBef>
                <a:spcPts val="800"/>
              </a:spcBef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采用Serverless与组件化开发模式，实现资源弹性调度与快速迭代，兼顾系统的高可用性与易维护性，为业务的高速发展提供坚实的技术底座。</a:t>
            </a:r>
            <a:endParaRPr lang="en-US" sz="14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762000"/>
            <a:ext cx="2540000" cy="2540000"/>
          </a:xfrm>
          <a:prstGeom prst="ellipse">
            <a:avLst/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461000"/>
            <a:ext cx="1905000" cy="1905000"/>
          </a:xfrm>
          <a:prstGeom prst="ellipse">
            <a:avLst/>
          </a:prstGeom>
          <a:solidFill>
            <a:srgbClr val="FF6A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项目总结与展望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349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多维创新驱动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5211">
            <a:off x="1016014" y="2914650"/>
            <a:ext cx="2870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A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965200" y="3111500"/>
            <a:ext cx="29718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◆ 模式重构：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UGC+PGC深度融合，打破信息茧房，重塑用户美食决策的核心参考体系。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◆ 沉浸体验：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LBS技术精准赋能，打造“附近即美好”的沉浸式探索场景，增强临场感。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◆ 技术基座：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AI智能审核+云原生架构，筑牢社区安全防线，保障平台高效稳定运行。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4069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4069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0900" y="2349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68900" y="2349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挑战与破局之道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5211">
            <a:off x="4660914" y="2914650"/>
            <a:ext cx="2870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A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10100" y="3111500"/>
            <a:ext cx="29718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核心痛点：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UGC内容易出现质量参差不齐，如何平衡开放氛围与内容质量，是社区治理的关键难题。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400" b="1" i="0" u="none" strike="noStrike">
                <a:solidFill>
                  <a:srgbClr val="FF6A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破局方案：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构建“AI预审+人工复核+用户举报”的立体化审核网；同时设计创作者成长与激励机制，从源头提升内容价值。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051800" y="20320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6A00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051800" y="2032000"/>
            <a:ext cx="3378200" cy="50800"/>
          </a:xfrm>
          <a:prstGeom prst="roundRect">
            <a:avLst>
              <a:gd name="adj" fmla="val 0"/>
            </a:avLst>
          </a:prstGeom>
          <a:solidFill>
            <a:srgbClr val="FF6A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349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813800" y="2349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未来演进路线图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5211">
            <a:off x="8305814" y="2914650"/>
            <a:ext cx="28702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6A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55000" y="3111500"/>
            <a:ext cx="29718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上线私信互动、兴趣小组功能，搭建用户间的强连接桥梁，提升社区粘性。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endParaRPr lang="en-US" sz="11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迭代个性化推荐算法，实现“千人千面”的精准内容匹配，提升信息获取效率。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探索本地商家探店、团购等多元商业化模式，实现用户价值与商业价值的双赢。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8080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以创新为内核，以技术为驱动，持续探索本地美食社区的无限可能，让每一次“寻味”都更有温度与价值。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3833</Words>
  <Application>WPS 演示</Application>
  <PresentationFormat/>
  <Paragraphs>251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黑体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MICOWAVE</cp:lastModifiedBy>
  <cp:revision>9</cp:revision>
  <dcterms:created xsi:type="dcterms:W3CDTF">2026-07-10T05:35:21Z</dcterms:created>
  <dcterms:modified xsi:type="dcterms:W3CDTF">2026-07-10T05:41:55Z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{"Label":"1","ContentProducer":"001191110102MACQD9K64010000","ProduceID":"7660765474412203212","ReservedCode1":"","ContentPropagator":"","PropagateID":"","ReservedCode2":""}</vt:lpwstr>
  </property>
  <property fmtid="{D5CDD505-2E9C-101B-9397-08002B2CF9AE}" pid="3" name="KSOProductBuildVer">
    <vt:lpwstr>2052-11.8.2.8411</vt:lpwstr>
  </property>
</Properties>
</file>